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94"/>
    <p:restoredTop sz="94700"/>
  </p:normalViewPr>
  <p:slideViewPr>
    <p:cSldViewPr snapToGrid="0" snapToObjects="1">
      <p:cViewPr varScale="1">
        <p:scale>
          <a:sx n="345" d="100"/>
          <a:sy n="345" d="100"/>
        </p:scale>
        <p:origin x="1096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91440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ICD-10 Code Prediction from</a:t>
            </a:r>
            <a:br/>
            <a:r>
              <a:t>MIMIC-IV Discharge Summaries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9AABB"/>
                </a:solidFill>
                <a:latin typeface="Calibri"/>
              </a:defRPr>
            </a:pPr>
            <a:r>
              <a:t>NLP Final Project  ·  Spring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7680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Calibri"/>
              </a:defRPr>
            </a:pPr>
            <a:r>
              <a:t>Presented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Devasai Sunder Tangella    ·    [Partner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67788"/>
                </a:solidFill>
                <a:latin typeface="Calibri"/>
              </a:defRPr>
            </a:pPr>
            <a:r>
              <a:t>(Edit names in PowerPoint)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87468"/>
            <a:ext cx="3657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ICD-10 Code Prediction  ·  NLP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87468"/>
            <a:ext cx="5486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ABBC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234440"/>
            <a:ext cx="320040" cy="3200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252728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1892808"/>
            <a:ext cx="320040" cy="3200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911096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Prior Work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551176"/>
            <a:ext cx="320040" cy="3200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69464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Dataset &amp; Base Model (TF-IDF)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209544"/>
            <a:ext cx="320040" cy="3200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227832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Individual Contributions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867912"/>
            <a:ext cx="320040" cy="3200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886200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Proposed Approaches — Overview</a:t>
            </a:r>
          </a:p>
        </p:txBody>
      </p:sp>
      <p:sp>
        <p:nvSpPr>
          <p:cNvPr id="18" name="Oval 17"/>
          <p:cNvSpPr/>
          <p:nvPr/>
        </p:nvSpPr>
        <p:spPr>
          <a:xfrm>
            <a:off x="4846320" y="1234440"/>
            <a:ext cx="320040" cy="3200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1252728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Approach 1: Chunk-BERT + Label Attention</a:t>
            </a:r>
          </a:p>
        </p:txBody>
      </p:sp>
      <p:sp>
        <p:nvSpPr>
          <p:cNvPr id="20" name="Oval 19"/>
          <p:cNvSpPr/>
          <p:nvPr/>
        </p:nvSpPr>
        <p:spPr>
          <a:xfrm>
            <a:off x="4846320" y="1892808"/>
            <a:ext cx="320040" cy="3200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1911096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Approach 2: BiLSTM-LAAT</a:t>
            </a:r>
          </a:p>
        </p:txBody>
      </p:sp>
      <p:sp>
        <p:nvSpPr>
          <p:cNvPr id="22" name="Oval 21"/>
          <p:cNvSpPr/>
          <p:nvPr/>
        </p:nvSpPr>
        <p:spPr>
          <a:xfrm>
            <a:off x="4846320" y="2551176"/>
            <a:ext cx="320040" cy="3200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2569464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Experimental Results</a:t>
            </a:r>
          </a:p>
        </p:txBody>
      </p:sp>
      <p:sp>
        <p:nvSpPr>
          <p:cNvPr id="24" name="Oval 23"/>
          <p:cNvSpPr/>
          <p:nvPr/>
        </p:nvSpPr>
        <p:spPr>
          <a:xfrm>
            <a:off x="4846320" y="3209544"/>
            <a:ext cx="320040" cy="3200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227832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Discussion &amp; Challenges</a:t>
            </a:r>
          </a:p>
        </p:txBody>
      </p:sp>
      <p:sp>
        <p:nvSpPr>
          <p:cNvPr id="26" name="Oval 25"/>
          <p:cNvSpPr/>
          <p:nvPr/>
        </p:nvSpPr>
        <p:spPr>
          <a:xfrm>
            <a:off x="4846320" y="3867912"/>
            <a:ext cx="384048" cy="384048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886200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Calibri"/>
              </a:defRPr>
            </a:pPr>
            <a:r>
              <a:t>Future Work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87468"/>
            <a:ext cx="3657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ICD-10 Code Prediction  ·  NLP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87468"/>
            <a:ext cx="5486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ABBC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45720" cy="20116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07899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C5F8A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2801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rPr dirty="0"/>
              <a:t>Given a clinical discharge summary (~1,500 words), predict the set of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rPr dirty="0"/>
              <a:t>ICD-10 diagnosis codes assigned to that hospital encounter.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rPr dirty="0"/>
              <a:t>This is a multi-label classification task with 7,940 possible codes.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45720" cy="20116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86C00"/>
                </a:solidFill>
                <a:latin typeface="Calibri"/>
              </a:defRPr>
            </a:pPr>
            <a:r>
              <a:t>WHY IS THIS HARD?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59152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 Massive label space: 7,940 unique ICD-10 codes after frequency filtering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 Extreme class imbalance: rare codes appear in &lt;0.1% of admissions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 Long documents: avg ~1,500 words exceeds BERT's 512-token limit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 Semantic complexity: same diagnosis expressed with different phrasing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03320"/>
            <a:ext cx="45720" cy="201168"/>
          </a:xfrm>
          <a:prstGeom prst="rect">
            <a:avLst/>
          </a:prstGeom>
          <a:solidFill>
            <a:srgbClr val="00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68503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7C6E"/>
                </a:solidFill>
                <a:latin typeface="Calibri"/>
              </a:defRPr>
            </a:pPr>
            <a:r>
              <a:t>CLINICAL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59352"/>
            <a:ext cx="8046720" cy="83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rPr dirty="0"/>
              <a:t>•   Manual coding costs US hospitals ~$25B/yr</a:t>
            </a:r>
            <a:endParaRPr lang="en-US" dirty="0"/>
          </a:p>
          <a:p>
            <a:pPr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rPr lang="en-US" dirty="0"/>
              <a:t>•   A</a:t>
            </a:r>
            <a:r>
              <a:rPr dirty="0"/>
              <a:t>utomated prediction reduces errors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rPr dirty="0"/>
              <a:t>•   Accurate codes drive reimbursement, epidemiology, and quality-of-care metrics</a:t>
            </a:r>
          </a:p>
        </p:txBody>
      </p:sp>
    </p:spTree>
  </p:cSld>
  <p:clrMapOvr>
    <a:masterClrMapping/>
  </p:clrMapOvr>
  <p:transition spd="med"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Prior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87468"/>
            <a:ext cx="3657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ICD-10 Code Prediction  ·  NLP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87468"/>
            <a:ext cx="5486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ABBCC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45720" cy="59436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143000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/>
              </a:defRPr>
            </a:pPr>
            <a:r>
              <a:t>CAML / DR-CAML (Mullenbach et al., 2018)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99032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44444"/>
                </a:solidFill>
                <a:latin typeface="Calibri"/>
              </a:defRPr>
            </a:pPr>
            <a:r>
              <a:t>CNN + per-label attention over clinical text. Established that label-aware attention is critical for ICD coding.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45720" cy="59436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965960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/>
              </a:defRPr>
            </a:pPr>
            <a:r>
              <a:t>PLM-ICD (Huang et al., 2022)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21992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44444"/>
                </a:solidFill>
                <a:latin typeface="Calibri"/>
              </a:defRPr>
            </a:pPr>
            <a:r>
              <a:t>Overlapping chunks + per-label attention over pretrained LM. Achieves SOTA on MIMIC-III with full-document coverage.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88920"/>
            <a:ext cx="45720" cy="59436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788920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/>
              </a:defRPr>
            </a:pPr>
            <a:r>
              <a:t>LAAT (Vu et al., 2020)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044952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44444"/>
                </a:solidFill>
                <a:latin typeface="Calibri"/>
              </a:defRPr>
            </a:pPr>
            <a:r>
              <a:t>BiLSTM encoder + label attention. Showed RNN-based models with label attention rival transformer approaches.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11880"/>
            <a:ext cx="45720" cy="59436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611880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/>
              </a:defRPr>
            </a:pPr>
            <a:r>
              <a:t>ClinicalBERT (Alsentzer et al., 2019)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67912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44444"/>
                </a:solidFill>
                <a:latin typeface="Calibri"/>
              </a:defRPr>
            </a:pPr>
            <a:r>
              <a:t>Pre-trained on MIMIC clinical notes; captures contextual semantics but truncates at 512 tokens.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Dataset &amp; Base Model (TF-IDF)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87468"/>
            <a:ext cx="3657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ICD-10 Code Prediction  ·  NLP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87468"/>
            <a:ext cx="5486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ABBCC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45720" cy="20116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07899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C5F8A"/>
                </a:solidFill>
                <a:latin typeface="Calibri"/>
              </a:defRPr>
            </a:pPr>
            <a:r>
              <a:t>MIMIC-IV CLINICAL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397763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331,793 discharge notes from Beth Israel Deaconess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122,304 admissions with notes + ICD-10 codes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7,940 codes (freq ≥ 10); Top-50 for experiments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Patient-level split (no leakage): Train 85,081 (70%), Val 18,371 (15%), Test 18,852 (15%)</a:t>
            </a:r>
          </a:p>
        </p:txBody>
      </p:sp>
      <p:pic>
        <p:nvPicPr>
          <p:cNvPr id="11" name="Picture 10" descr="note_length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944" y="1042416"/>
            <a:ext cx="3018996" cy="1097280"/>
          </a:xfrm>
          <a:prstGeom prst="rect">
            <a:avLst/>
          </a:prstGeom>
        </p:spPr>
      </p:pic>
      <p:pic>
        <p:nvPicPr>
          <p:cNvPr id="12" name="Picture 11" descr="label_cardin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365" y="2260854"/>
            <a:ext cx="2881835" cy="1097280"/>
          </a:xfrm>
          <a:prstGeom prst="rect">
            <a:avLst/>
          </a:prstGeom>
        </p:spPr>
      </p:pic>
      <p:pic>
        <p:nvPicPr>
          <p:cNvPr id="13" name="Picture 12" descr="code_freq_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525" y="3515868"/>
            <a:ext cx="2881835" cy="109728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48640" y="2750058"/>
            <a:ext cx="45720" cy="20116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72491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86C00"/>
                </a:solidFill>
                <a:latin typeface="Calibri"/>
              </a:defRPr>
            </a:pPr>
            <a:r>
              <a:rPr dirty="0"/>
              <a:t>BASE MODEL: TF-IDF + SGD (SHARED)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058668"/>
            <a:ext cx="8046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rPr dirty="0"/>
              <a:t>•  50K-dim TF-IDF vectors (unigrams + bigrams, sublinear TF)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OneVsRest</a:t>
            </a:r>
            <a:r>
              <a:rPr dirty="0"/>
              <a:t> </a:t>
            </a:r>
            <a:r>
              <a:rPr dirty="0" err="1"/>
              <a:t>SGDClassifier</a:t>
            </a:r>
            <a:r>
              <a:rPr dirty="0"/>
              <a:t> (log loss, L2 penalty, balanced class weights)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rPr dirty="0"/>
              <a:t>•  Threshold tuning on validation → t = 0.53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rPr dirty="0"/>
              <a:t>•  Micro-F1: 0.60 | Macro-F1: 0.57 | AUROC: 0.93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rPr dirty="0"/>
              <a:t>•  Serves as the baseline both approaches aim to improve upon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Individual Contributions — Teammate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37160"/>
            <a:ext cx="3200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AABBCC"/>
                </a:solidFill>
                <a:latin typeface="Calibri"/>
              </a:defRPr>
            </a:pPr>
            <a:r>
              <a:t>[Teammate 1 — edit name]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4887468"/>
            <a:ext cx="3657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ICD-10 Code Prediction  ·  NLP Final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87468"/>
            <a:ext cx="5486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ABBCC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45720" cy="20116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07899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C5F8A"/>
                </a:solidFill>
                <a:latin typeface="Calibri"/>
              </a:defRPr>
            </a:pPr>
            <a:r>
              <a:t>APPROACH 1: CHUNK-BERT + LABEL ATTENTION (PLM-ICD INSPIRED)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353312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rPr dirty="0"/>
              <a:t>•  Designed chunking strategy: sliding window (6 × 512 tokens, stride 256) for full-document coverage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rPr dirty="0"/>
              <a:t>•  Implemented per-label attention — 50 learnable query vectors attend across all chunk embeddings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Bio_ClinicalBERT</a:t>
            </a:r>
            <a:r>
              <a:rPr dirty="0"/>
              <a:t> encoder with two-phase training (frozen → fine-tune last 2 layers)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45720" cy="20116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213055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86C00"/>
                </a:solidFill>
                <a:latin typeface="Calibri"/>
              </a:defRPr>
            </a:pPr>
            <a:r>
              <a:t>TRAINING &amp;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04872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Sigmoid focal loss (gamma=2.0, alpha=0.25) to handle severe class imbalance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Mixed-precision (fp16) + gradient accumulation (batch 4 × 8 = effective 32) on GCP L4 GPU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~8 hours training; validation F1 improved from 0.41 → 0.47 across training phases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00400"/>
            <a:ext cx="45720" cy="201168"/>
          </a:xfrm>
          <a:prstGeom prst="rect">
            <a:avLst/>
          </a:prstGeom>
          <a:solidFill>
            <a:srgbClr val="00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318211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7C6E"/>
                </a:solidFill>
                <a:latin typeface="Calibri"/>
              </a:defRPr>
            </a:pPr>
            <a:r>
              <a:t>ADDITIONAL CONTRIBUTIONS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56432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MIMIC-IV data extraction pipeline &amp; cohort construction (122K admissions)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Text preprocessing: de-id stripping, normalization, TF-IDF feature engineering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Built shared evaluation framework (threshold tuning, head/torso/tail analysis)</a:t>
            </a:r>
          </a:p>
        </p:txBody>
      </p:sp>
    </p:spTree>
  </p:cSld>
  <p:clrMapOvr>
    <a:masterClrMapping/>
  </p:clrMapOvr>
  <p:transition spd="med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Individual Contributions — Teammate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37160"/>
            <a:ext cx="3200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AABBCC"/>
                </a:solidFill>
                <a:latin typeface="Calibri"/>
              </a:defRPr>
            </a:pPr>
            <a:r>
              <a:t>[Teammate 2 — edit name]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4887468"/>
            <a:ext cx="3657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ICD-10 Code Prediction  ·  NLP Final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87468"/>
            <a:ext cx="5486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ABBCC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45720" cy="20116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07899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C5F8A"/>
                </a:solidFill>
                <a:latin typeface="Calibri"/>
              </a:defRPr>
            </a:pPr>
            <a:r>
              <a:t>APPROACH 2: BiLSTM-LAAT (LABEL ATTENTION OVER BiLSTM)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353312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Implemented LAAT architecture: BiLSTM encoder + structured label attention mechanism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Word-level tokenization with 50K vocabulary — processes up to 4,000 tokens natively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Per-label attention with learned projection: Z = tanh(W·H^T), A = softmax(U·Z)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45720" cy="20116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213055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86C00"/>
                </a:solidFill>
                <a:latin typeface="Calibri"/>
              </a:defRPr>
            </a:pPr>
            <a:r>
              <a:t>TRAINING &amp; CALIBRATION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04872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10 epochs with focal loss, AdamW (lr=1e-3), batch size 32 on GCP L4 GPU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Temperature calibration post-training — reduced ECE from 0.07 to 0.02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Achieved best individual Micro-F1: 0.72 — significantly outperforms base model (+12 F1 pts)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00400"/>
            <a:ext cx="45720" cy="201168"/>
          </a:xfrm>
          <a:prstGeom prst="rect">
            <a:avLst/>
          </a:prstGeom>
          <a:solidFill>
            <a:srgbClr val="00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318211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7C6E"/>
                </a:solidFill>
                <a:latin typeface="Calibri"/>
              </a:defRPr>
            </a:pPr>
            <a:r>
              <a:t>ADDITIONAL CONTRIBUTIONS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56432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Comparative evaluation across all models (per-label scatter analysis, bar charts)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Production packaging: src/ Python module, FastAPI API, Docker containerization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Pytest test suite covering data processing, model shapes, and API schemas</a:t>
            </a:r>
          </a:p>
        </p:txBody>
      </p:sp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Proposed Approaches —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87468"/>
            <a:ext cx="3657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ICD-10 Code Prediction  ·  NLP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87468"/>
            <a:ext cx="5486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ABBCC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Two approaches for Top-50 ICD-10 prediction, both addressing full-document processing: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84048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435608"/>
            <a:ext cx="3566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Approach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3840480" cy="26060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920240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3A5C"/>
                </a:solidFill>
                <a:latin typeface="Calibri"/>
              </a:defRPr>
            </a:pPr>
            <a:r>
              <a:t>Chunk-BERT + Label Attention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9456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PLM-ICD inspired architecture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6 overlapping 512-token chunks → Bio_ClinicalBERT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Concatenate all token embeddings across chunks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Per-label attention: 50 learnable query vectors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Two-phase training: frozen → fine-tune BERT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417320"/>
            <a:ext cx="3840480" cy="411480"/>
          </a:xfrm>
          <a:prstGeom prst="rect">
            <a:avLst/>
          </a:prstGeom>
          <a:solidFill>
            <a:srgbClr val="00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92040" y="1435608"/>
            <a:ext cx="3566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Approach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828800"/>
            <a:ext cx="3840480" cy="26060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92040" y="1920240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7C6E"/>
                </a:solidFill>
                <a:latin typeface="Calibri"/>
              </a:defRPr>
            </a:pPr>
            <a:r>
              <a:t>BiLSTM-LAAT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19456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LAAT (Vu et al., 2020) inspired architecture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Word embeddings → Bidirectional LSTM encoder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Structured label attention: W·H^T → tanh → softmax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Processes up to 4,000 tokens natively (no chunking)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Lightweight: 10 epochs, trains in ~30 min on L4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60520"/>
            <a:ext cx="8046720" cy="3474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4187952"/>
            <a:ext cx="782726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C6E"/>
                </a:solidFill>
                <a:latin typeface="Calibri"/>
              </a:defRPr>
            </a:pPr>
            <a:r>
              <a:t>Both approaches use per-label attention and process full documents — key advantages over truncation-based BERT.</a:t>
            </a:r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Approach 1 — Chunk-BERT + Label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87468"/>
            <a:ext cx="3657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ICD-10 Code Prediction  ·  NLP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87468"/>
            <a:ext cx="5486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ABBCC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45720" cy="20116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07899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C5F8A"/>
                </a:solidFill>
                <a:latin typeface="Calibri"/>
              </a:defRPr>
            </a:pPr>
            <a:r>
              <a:t>CHUNKING + ENCODING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1.  Tokenize full note → sliding window (512 tokens, stride 256)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2.  Pad/truncate to max 6 chunks; mask padding during attention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3.  Bio_ClinicalBERT encodes each chunk → concat all embeddings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45720" cy="201168"/>
          </a:xfrm>
          <a:prstGeom prst="rect">
            <a:avLst/>
          </a:prstGeom>
          <a:solidFill>
            <a:srgbClr val="00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1762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7C6E"/>
                </a:solidFill>
                <a:latin typeface="Calibri"/>
              </a:defRPr>
            </a:pPr>
            <a:r>
              <a:t>LABEL ATTENTION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5059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50 learnable query vectors (R^768), Xavier-initialized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Scores = H @ Q^T → softmax → weighted sum per label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Per-label linear projection for final logits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20116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18211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86C00"/>
                </a:solidFill>
                <a:latin typeface="Calibri"/>
              </a:defRPr>
            </a:pPr>
            <a:r>
              <a:t>TWO-PHASE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56432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Phase 1:  5 ep, lr=1e-3 — trains attention + classifier (BERT frozen)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Phase 2:  3 ep, lr=2e-5 — unfreezes last 2 BERT layers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Focal loss (gamma=2.0) · fp16 · batch 4×8 on GCP L4</a:t>
            </a:r>
          </a:p>
        </p:txBody>
      </p:sp>
      <p:pic>
        <p:nvPicPr>
          <p:cNvPr id="17" name="Picture 16" descr="trainin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652" y="982980"/>
            <a:ext cx="2850126" cy="1655064"/>
          </a:xfrm>
          <a:prstGeom prst="rect">
            <a:avLst/>
          </a:prstGeom>
        </p:spPr>
      </p:pic>
      <p:pic>
        <p:nvPicPr>
          <p:cNvPr id="18" name="Picture 17" descr="training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652" y="2702052"/>
            <a:ext cx="3123708" cy="1655064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Approach 2 — BiLSTM-LAAT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87468"/>
            <a:ext cx="3657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ICD-10 Code Prediction  ·  NLP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87468"/>
            <a:ext cx="5486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ABBCC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45720" cy="20116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07899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C5F8A"/>
                </a:solidFill>
                <a:latin typeface="Calibri"/>
              </a:defRPr>
            </a:pPr>
            <a:r>
              <a:t>ARCHITECTURE (LAAT — Vu et al., 2020)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1.  Word embedding layer (dim=200, vocab=50K) → BiLSTM (hidden=256)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2.  Label attention: Z = tanh(W·H^T), A = softmax(U·Z)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3.  Per-label FFN classifier → 50 sigmoid outputs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45720" cy="201168"/>
          </a:xfrm>
          <a:prstGeom prst="rect">
            <a:avLst/>
          </a:prstGeom>
          <a:solidFill>
            <a:srgbClr val="00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1762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7C6E"/>
                </a:solidFill>
                <a:latin typeface="Calibri"/>
              </a:defRPr>
            </a:pPr>
            <a:r>
              <a:t>KEY DESIGN CHOICES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5059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Processes up to 4,000 word tokens — full document, no chunking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Lightweight: ~11M parameters (vs 108M for BERT-based approach)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Focal loss + temperature calibration (ECE: 0.07 → 0.02)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20116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18211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86C00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56432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10 epochs, AdamW lr=1e-3, batch 32 on GCP L4 GPU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Val F1 improved steadily: 0.67 → 0.72 (tuned threshold)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Early stopping patience = 3; best at epoch 8</a:t>
            </a:r>
          </a:p>
        </p:txBody>
      </p:sp>
      <p:pic>
        <p:nvPicPr>
          <p:cNvPr id="17" name="Picture 16" descr="trainin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8949" y="1115126"/>
            <a:ext cx="2744499" cy="1481770"/>
          </a:xfrm>
          <a:prstGeom prst="rect">
            <a:avLst/>
          </a:prstGeom>
        </p:spPr>
      </p:pic>
      <p:pic>
        <p:nvPicPr>
          <p:cNvPr id="18" name="Picture 17" descr="training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860" y="2765757"/>
            <a:ext cx="2632588" cy="1605075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Results — Test Set (Top-50 Codes)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87468"/>
            <a:ext cx="3657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ICD-10 Code Prediction  ·  NLP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87468"/>
            <a:ext cx="5486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ABBCC"/>
                </a:solidFill>
                <a:latin typeface="Calibri"/>
              </a:defRPr>
            </a:pPr>
            <a: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415724"/>
              </p:ext>
            </p:extLst>
          </p:nvPr>
        </p:nvGraphicFramePr>
        <p:xfrm>
          <a:off x="548640" y="1143000"/>
          <a:ext cx="6766560" cy="2837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Base Model</a:t>
                      </a:r>
                    </a:p>
                    <a:p>
                      <a:r>
                        <a:rPr lang="en-US" dirty="0"/>
                        <a:t>   </a:t>
                      </a:r>
                      <a:r>
                        <a:rPr dirty="0"/>
                        <a:t>(TF-IDF+SGD)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Approach 1</a:t>
                      </a:r>
                    </a:p>
                    <a:p>
                      <a:r>
                        <a:rPr lang="en-US" dirty="0"/>
                        <a:t>   </a:t>
                      </a:r>
                      <a:r>
                        <a:rPr dirty="0"/>
                        <a:t>(</a:t>
                      </a:r>
                      <a:r>
                        <a:rPr dirty="0" err="1"/>
                        <a:t>Chunk+Attn</a:t>
                      </a:r>
                      <a:r>
                        <a:rPr dirty="0"/>
                        <a:t>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Approach 2</a:t>
                      </a:r>
                    </a:p>
                    <a:p>
                      <a:r>
                        <a:rPr lang="en-US" dirty="0"/>
                        <a:t>   </a:t>
                      </a:r>
                      <a:r>
                        <a:rPr dirty="0"/>
                        <a:t>(</a:t>
                      </a:r>
                      <a:r>
                        <a:rPr dirty="0" err="1"/>
                        <a:t>BiLSTM</a:t>
                      </a:r>
                      <a:r>
                        <a:rPr dirty="0"/>
                        <a:t>-LAAT)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Micro-F1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0.60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0.53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7C6E"/>
                          </a:solidFill>
                          <a:latin typeface="Calibri"/>
                        </a:defRPr>
                      </a:pPr>
                      <a:r>
                        <a:t>0.72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Macro-F1</a:t>
                      </a:r>
                    </a:p>
                  </a:txBody>
                  <a:tcPr anchor="ctr">
                    <a:solidFill>
                      <a:srgbClr val="EBEF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0.57</a:t>
                      </a:r>
                    </a:p>
                  </a:txBody>
                  <a:tcPr anchor="ctr">
                    <a:solidFill>
                      <a:srgbClr val="EBEF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 anchor="ctr">
                    <a:solidFill>
                      <a:srgbClr val="EBEF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7C6E"/>
                          </a:solidFill>
                          <a:latin typeface="Calibri"/>
                        </a:defRPr>
                      </a:pPr>
                      <a:r>
                        <a:t>0.66</a:t>
                      </a:r>
                    </a:p>
                  </a:txBody>
                  <a:tcPr anchor="ctr">
                    <a:solidFill>
                      <a:srgbClr val="EB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Micro-Precision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0.49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0.42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7C6E"/>
                          </a:solidFill>
                          <a:latin typeface="Calibri"/>
                        </a:defRPr>
                      </a:pPr>
                      <a:r>
                        <a:t>0.72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Micro-Recall</a:t>
                      </a:r>
                    </a:p>
                  </a:txBody>
                  <a:tcPr anchor="ctr">
                    <a:solidFill>
                      <a:srgbClr val="EBEF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0.75</a:t>
                      </a:r>
                    </a:p>
                  </a:txBody>
                  <a:tcPr anchor="ctr">
                    <a:solidFill>
                      <a:srgbClr val="EBEF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0.72</a:t>
                      </a:r>
                    </a:p>
                  </a:txBody>
                  <a:tcPr anchor="ctr">
                    <a:solidFill>
                      <a:srgbClr val="EBEF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7C6E"/>
                          </a:solidFill>
                          <a:latin typeface="Calibri"/>
                        </a:defRPr>
                      </a:pPr>
                      <a:r>
                        <a:t>0.72</a:t>
                      </a:r>
                    </a:p>
                  </a:txBody>
                  <a:tcPr anchor="ctr">
                    <a:solidFill>
                      <a:srgbClr val="EB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Macro-AUPRC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0.57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0.52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7C6E"/>
                          </a:solidFill>
                          <a:latin typeface="Calibri"/>
                        </a:defRPr>
                      </a:pPr>
                      <a:r>
                        <a:t>0.68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Micro-AUROC</a:t>
                      </a:r>
                    </a:p>
                  </a:txBody>
                  <a:tcPr anchor="ctr">
                    <a:solidFill>
                      <a:srgbClr val="EBEF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0.93</a:t>
                      </a:r>
                    </a:p>
                  </a:txBody>
                  <a:tcPr anchor="ctr">
                    <a:solidFill>
                      <a:srgbClr val="EBEF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0.89</a:t>
                      </a:r>
                    </a:p>
                  </a:txBody>
                  <a:tcPr anchor="ctr">
                    <a:solidFill>
                      <a:srgbClr val="EBEF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7C6E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 anchor="ctr">
                    <a:solidFill>
                      <a:srgbClr val="EB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Threshold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0.53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0.63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7C6E"/>
                          </a:solidFill>
                          <a:latin typeface="Calibri"/>
                        </a:defRPr>
                      </a:pPr>
                      <a:r>
                        <a:rPr dirty="0"/>
                        <a:t>0.30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061" y="4012692"/>
            <a:ext cx="7827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000" b="1">
                <a:solidFill>
                  <a:srgbClr val="007C6E"/>
                </a:solidFill>
                <a:latin typeface="Calibri"/>
              </a:defRPr>
            </a:pPr>
            <a:r>
              <a:rPr dirty="0" err="1"/>
              <a:t>BiLSTM</a:t>
            </a:r>
            <a:r>
              <a:rPr dirty="0"/>
              <a:t>-LAAT achieves best results: +12 F1 pts over base model, with balanced precision (0.72) and recall (0.72).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1">
                <a:solidFill>
                  <a:srgbClr val="007C6E"/>
                </a:solidFill>
                <a:latin typeface="Calibri"/>
              </a:defRPr>
            </a:pPr>
            <a:r>
              <a:rPr dirty="0"/>
              <a:t>Approach 1 matches base model recall but needs more training epochs — BERT layers unfrozen only for 3 epochs.</a:t>
            </a:r>
          </a:p>
        </p:txBody>
      </p:sp>
    </p:spTree>
  </p:cSld>
  <p:clrMapOvr>
    <a:masterClrMapping/>
  </p:clrMapOvr>
  <p:transition spd="med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Results — Model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87468"/>
            <a:ext cx="3657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ICD-10 Code Prediction  ·  NLP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87468"/>
            <a:ext cx="5486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ABBCC"/>
                </a:solidFill>
                <a:latin typeface="Calibri"/>
              </a:defRPr>
            </a:pPr>
            <a:r>
              <a:t>12</a:t>
            </a:r>
          </a:p>
        </p:txBody>
      </p:sp>
      <p:pic>
        <p:nvPicPr>
          <p:cNvPr id="8" name="Picture 7" descr="three_model_comparison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200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87468"/>
            <a:ext cx="3657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ICD-10 Code Prediction  ·  NLP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87468"/>
            <a:ext cx="5486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ABBCC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161288"/>
            <a:ext cx="320040" cy="3200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14300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BiLSTM-LAAT outperforms both BERT-based and TF-IDF approaches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389888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44444"/>
                </a:solidFill>
                <a:latin typeface="Calibri"/>
              </a:defRPr>
            </a:pPr>
            <a:r>
              <a:t>With only ~11M parameters, the BiLSTM achieves 0.72 F1 — processing 4K tokens natively without chunking overhead.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1938528"/>
            <a:ext cx="320040" cy="3200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92024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Full-document processing is critical for ICD coding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167128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44444"/>
                </a:solidFill>
                <a:latin typeface="Calibri"/>
              </a:defRPr>
            </a:pPr>
            <a:r>
              <a:t>Both proposed approaches process the complete note. Truncated ClinicalBERT (512 tokens) scored only 0.52 F1.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715768"/>
            <a:ext cx="320040" cy="3200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69748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Label attention is the key architectural component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944368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44444"/>
                </a:solidFill>
                <a:latin typeface="Calibri"/>
              </a:defRPr>
            </a:pPr>
            <a:r>
              <a:t>Both approaches use per-label attention — each ICD code learns to attend to its most relevant tokens in the document.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493008"/>
            <a:ext cx="320040" cy="32004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47472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Lightweight models can outperform large transformers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721608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44444"/>
                </a:solidFill>
                <a:latin typeface="Calibri"/>
              </a:defRPr>
            </a:pPr>
            <a:r>
              <a:t>BiLSTM-LAAT trains in ~30 min vs ~8 hrs for Chunk-BERT. Smaller models can be more practical for clinical deployment.</a:t>
            </a:r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Discussion — Analysis &amp;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87468"/>
            <a:ext cx="3657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ICD-10 Code Prediction  ·  NLP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87468"/>
            <a:ext cx="5486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ABBCC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45720" cy="20116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07899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C5F8A"/>
                </a:solidFill>
                <a:latin typeface="Calibri"/>
              </a:defRPr>
            </a:pPr>
            <a:r>
              <a:t>WHY DOES BiLSTM-LAAT OUTPERFORM CHUNK-BERT?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BiLSTM processes 4,000 tokens in a single pass — no chunking artifacts or cross-chunk boundary issues.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Word-level tokenization preserves medical terminology directly; BERT's subword tokenizer fragments clinical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45720" cy="201168"/>
          </a:xfrm>
          <a:prstGeom prst="rect">
            <a:avLst/>
          </a:prstGeom>
          <a:solidFill>
            <a:srgbClr val="00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22199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7C6E"/>
                </a:solidFill>
                <a:latin typeface="Calibri"/>
              </a:defRPr>
            </a:pPr>
            <a:r>
              <a:t>WHY DOES TF-IDF REMAIN COMPETITIVE?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96312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ICD codes are defined by precise medical terms — "acute kidney failure" maps directly to N17.9.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TF-IDF bigrams capture these domain-specific phrases without needing contextual understanding.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83280"/>
            <a:ext cx="45720" cy="20116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36499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86C00"/>
                </a:solidFill>
                <a:latin typeface="Calibri"/>
              </a:defRPr>
            </a:pPr>
            <a:r>
              <a:t>CALIBRATION MATTERS FOR CLINICAL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39312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Temperature scaling on BiLSTM-LAAT reduced ECE from 0.07 to 0.02 — clinically reliable confidence scores.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The gap between AUROC (0.95) and F1 (0.72) shows strong ranking ability — per-label threshold tuning could push F1 higher.</a:t>
            </a:r>
          </a:p>
        </p:txBody>
      </p:sp>
    </p:spTree>
  </p:cSld>
  <p:clrMapOvr>
    <a:masterClrMapping/>
  </p:clrMapOvr>
  <p:transition spd="med"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Discussion — Challenges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87468"/>
            <a:ext cx="3657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ICD-10 Code Prediction  ·  NLP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87468"/>
            <a:ext cx="5486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ABBCC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45720" cy="5943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14300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/>
              </a:defRPr>
            </a:pPr>
            <a:r>
              <a:t>Label-Space Scalability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99032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44444"/>
                </a:solidFill>
                <a:latin typeface="Calibri"/>
              </a:defRPr>
            </a:pPr>
            <a:r>
              <a:t>Full 7,940-label training was infeasible (100+ GPU-hrs). Focused on Top-50 codes covering 32.5% of labels.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45720" cy="5943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96596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/>
              </a:defRPr>
            </a:pPr>
            <a:r>
              <a:t>Long-Document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21992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44444"/>
                </a:solidFill>
                <a:latin typeface="Calibri"/>
              </a:defRPr>
            </a:pPr>
            <a:r>
              <a:t>BERT's 512-token limit loses 40-60% of each note. Solved with chunking (Approach 1) and BiLSTM (Approach 2).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88920"/>
            <a:ext cx="45720" cy="5943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7889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/>
              </a:defRPr>
            </a:pPr>
            <a:r>
              <a:t>Severe Class Imbalance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044952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44444"/>
                </a:solidFill>
                <a:latin typeface="Calibri"/>
              </a:defRPr>
            </a:pPr>
            <a:r>
              <a:t>Rare codes appear in &lt;0.1% of admissions. Addressed with focal loss (gamma=2.0) in both approaches.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11880"/>
            <a:ext cx="45720" cy="5943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61188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3A5C"/>
                </a:solidFill>
                <a:latin typeface="Calibri"/>
              </a:defRPr>
            </a:pPr>
            <a:r>
              <a:t>Probability Calibration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67912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44444"/>
                </a:solidFill>
                <a:latin typeface="Calibri"/>
              </a:defRPr>
            </a:pPr>
            <a:r>
              <a:t>Raw model outputs were overconfident. Temperature scaling (T=0.63 for BiLSTM) reduced ECE to 0.02.</a:t>
            </a:r>
          </a:p>
        </p:txBody>
      </p:sp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Future Work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887468"/>
            <a:ext cx="3657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ICD-10 Code Prediction  ·  NLP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87468"/>
            <a:ext cx="5486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ABBCC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45720" cy="20116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07899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C5F8A"/>
                </a:solidFill>
                <a:latin typeface="Calibri"/>
              </a:defRPr>
            </a:pPr>
            <a:r>
              <a:t>ENSEMBLE — IMMEDIATE NEXT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Weighted probability blend of TF-IDF + BiLSTM-LAAT with tuned threshold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The models make different types of errors — lexical vs. sequential-contextual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Preliminary analysis suggests 3-5% F1 improvement is achievable over best individual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45720" cy="201168"/>
          </a:xfrm>
          <a:prstGeom prst="rect">
            <a:avLst/>
          </a:prstGeom>
          <a:solidFill>
            <a:srgbClr val="00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31343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7C6E"/>
                </a:solidFill>
                <a:latin typeface="Calibri"/>
              </a:defRPr>
            </a:pPr>
            <a:r>
              <a:t>INTERACTIVE DEMO (STREAMLIT + FastAPI)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87752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Streamlit web UI: paste a discharge summary → predicted ICD-10 codes with confidence scores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FastAPI backend with attention-based evidence highlighting per predicted code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Docker-containerized for reproducible deployment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66160"/>
            <a:ext cx="45720" cy="20116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5478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86C00"/>
                </a:solidFill>
                <a:latin typeface="Calibri"/>
              </a:defRPr>
            </a:pPr>
            <a:r>
              <a:t>FURTHER EXTENSIONS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22192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Scale to Top-500 codes — more realistic clinical deployment scenario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Per-label threshold tuning — global threshold is suboptimal for rare codes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444444"/>
                </a:solidFill>
                <a:latin typeface="Calibri"/>
              </a:defRPr>
            </a:pPr>
            <a:r>
              <a:t>•  Clinical-Longformer (4,096 tokens) to combine transformer power with full-document coverage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91440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9AABB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8899AA"/>
                </a:solidFill>
                <a:latin typeface="Calibri"/>
              </a:defRPr>
            </a:pPr>
            <a:r>
              <a:t>ICD-10 Code Prediction  ·  NLP Final Project  ·  Spring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Devasai Sunder Tangella    ·    [Partner Name]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1894</Words>
  <Application>Microsoft Macintosh PowerPoint</Application>
  <PresentationFormat>On-screen Show (16:9)</PresentationFormat>
  <Paragraphs>250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Deva Sai Sunder Tangella</cp:lastModifiedBy>
  <cp:revision>8</cp:revision>
  <dcterms:created xsi:type="dcterms:W3CDTF">2013-01-27T09:14:16Z</dcterms:created>
  <dcterms:modified xsi:type="dcterms:W3CDTF">2026-04-14T16:47:51Z</dcterms:modified>
  <cp:category/>
</cp:coreProperties>
</file>